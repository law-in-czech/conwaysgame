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10.png" ContentType="image/png"/>
  <Override PartName="/ppt/media/image2.jpeg" ContentType="image/jpeg"/>
  <Override PartName="/ppt/media/image14.png" ContentType="image/png"/>
  <Override PartName="/ppt/media/image5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media/image4.png" ContentType="image/png"/>
  <Override PartName="/ppt/media/image13.png" ContentType="image/png"/>
  <Override PartName="/ppt/media/image12.gif" ContentType="image/gif"/>
  <Override PartName="/ppt/media/image3.jpeg" ContentType="image/jpeg"/>
  <Override PartName="/ppt/media/image6.png" ContentType="image/png"/>
  <Override PartName="/ppt/media/image1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C7DAE2-3DD0-4FE0-8F66-CD41B68AB9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C00026-DA04-445D-A7D8-F8CC4C2A8F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79D5D5-75AD-4434-8719-FABCDFE40B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</a:t>
            </a: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8ACA63E-3972-4EA4-8E28-59B8AB8A297F}" type="slidenum"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gif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Conway’s Game of Life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11" name=""/>
          <p:cNvSpPr/>
          <p:nvPr/>
        </p:nvSpPr>
        <p:spPr>
          <a:xfrm>
            <a:off x="914400" y="2089440"/>
            <a:ext cx="8229600" cy="228600"/>
          </a:xfrm>
          <a:prstGeom prst="rect">
            <a:avLst/>
          </a:prstGeom>
          <a:solidFill>
            <a:srgbClr val="b64a4a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914400" y="2377440"/>
            <a:ext cx="8229600" cy="228600"/>
          </a:xfrm>
          <a:prstGeom prst="rect">
            <a:avLst/>
          </a:prstGeom>
          <a:solidFill>
            <a:srgbClr val="31549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14400" y="2665440"/>
            <a:ext cx="8229600" cy="228600"/>
          </a:xfrm>
          <a:prstGeom prst="rect">
            <a:avLst/>
          </a:prstGeom>
          <a:solidFill>
            <a:srgbClr val="3e7d4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29560" y="1143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Background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15" name=""/>
          <p:cNvSpPr/>
          <p:nvPr/>
        </p:nvSpPr>
        <p:spPr>
          <a:xfrm>
            <a:off x="457200" y="2057400"/>
            <a:ext cx="9144000" cy="914400"/>
          </a:xfrm>
          <a:prstGeom prst="rect">
            <a:avLst/>
          </a:prstGeom>
          <a:solidFill>
            <a:srgbClr val="b64a4a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Origins of Cellular Automata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71600"/>
            <a:ext cx="3839400" cy="297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Cellular Automata was born and raised during WWII and the post-war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period at Los Alamos National Laboratory with Stanisław Ulam &amp; John von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Neumann working on simulating crystal growth, self-replicating systems,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and eventually fluid dynamics.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</p:txBody>
      </p:sp>
      <p:pic>
        <p:nvPicPr>
          <p:cNvPr id="18" name="" descr=""/>
          <p:cNvPicPr/>
          <p:nvPr/>
        </p:nvPicPr>
        <p:blipFill>
          <a:blip r:embed="rId1"/>
          <a:stretch/>
        </p:blipFill>
        <p:spPr>
          <a:xfrm>
            <a:off x="4705560" y="1371600"/>
            <a:ext cx="2152440" cy="2971800"/>
          </a:xfrm>
          <a:prstGeom prst="rect">
            <a:avLst/>
          </a:prstGeom>
          <a:ln w="0">
            <a:noFill/>
          </a:ln>
        </p:spPr>
      </p:pic>
      <p:pic>
        <p:nvPicPr>
          <p:cNvPr id="19" name="" descr=""/>
          <p:cNvPicPr/>
          <p:nvPr/>
        </p:nvPicPr>
        <p:blipFill>
          <a:blip r:embed="rId2"/>
          <a:stretch/>
        </p:blipFill>
        <p:spPr>
          <a:xfrm>
            <a:off x="7086600" y="1371600"/>
            <a:ext cx="2286000" cy="2971800"/>
          </a:xfrm>
          <a:prstGeom prst="rect">
            <a:avLst/>
          </a:prstGeom>
          <a:ln w="0">
            <a:noFill/>
          </a:ln>
        </p:spPr>
      </p:pic>
      <p:sp>
        <p:nvSpPr>
          <p:cNvPr id="20" name=""/>
          <p:cNvSpPr/>
          <p:nvPr/>
        </p:nvSpPr>
        <p:spPr>
          <a:xfrm>
            <a:off x="504000" y="199080"/>
            <a:ext cx="914400" cy="973440"/>
          </a:xfrm>
          <a:prstGeom prst="rect">
            <a:avLst/>
          </a:prstGeom>
          <a:solidFill>
            <a:srgbClr val="b64a4a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4705560" y="4343400"/>
            <a:ext cx="2152440" cy="41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Stanisław </a:t>
            </a:r>
            <a:r>
              <a:rPr b="0" lang="en-US" sz="1800" spc="-1" strike="noStrike">
                <a:solidFill>
                  <a:srgbClr val="ffffff"/>
                </a:solidFill>
                <a:latin typeface="Baskervville"/>
              </a:rPr>
              <a:t>Ulam</a:t>
            </a:r>
            <a:endParaRPr b="0" lang="en-US" sz="18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7086600" y="4414680"/>
            <a:ext cx="2286000" cy="3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Baskervville"/>
              </a:rPr>
              <a:t>John Von Neumann</a:t>
            </a:r>
            <a:endParaRPr b="0" lang="en-US" sz="1800" spc="-1" strike="noStrike">
              <a:solidFill>
                <a:srgbClr val="ffffff"/>
              </a:solidFill>
              <a:latin typeface="Baskervville"/>
            </a:endParaRPr>
          </a:p>
        </p:txBody>
      </p:sp>
    </p:spTree>
  </p:cSld>
  <mc:AlternateContent>
    <mc:Choice Requires="p14">
      <p:transition spd="slow" p14:dur="15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200" spc="-1" strike="noStrike">
                <a:solidFill>
                  <a:srgbClr val="ffffff"/>
                </a:solidFill>
                <a:latin typeface="Baskervville"/>
              </a:rPr>
              <a:t>Conway’s Game of Life</a:t>
            </a:r>
            <a:endParaRPr b="1" lang="en-US" sz="42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8968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44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  <a:ea typeface="Noto Sans CJK SC"/>
              </a:rPr>
              <a:t>John Conway in 1968, read about Neumann’s Work in self-replication. 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  <a:ea typeface="Noto Sans CJK SC"/>
              </a:rPr>
              <a:t>Conway wanted to make a more simple (less states) and unpredictable automata, under the philosophy that “if you couldn’t predict the outcome, it probably can do anything.” 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Conway told Martin Gardner about his Game of Life and was published in the </a:t>
            </a:r>
            <a:r>
              <a:rPr b="0" i="1" lang="en-US" sz="2000" spc="-1" strike="noStrike">
                <a:solidFill>
                  <a:srgbClr val="ffffff"/>
                </a:solidFill>
                <a:latin typeface="Baskervville"/>
              </a:rPr>
              <a:t>Scientific American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 October 1970.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tretch/>
        </p:blipFill>
        <p:spPr>
          <a:xfrm>
            <a:off x="6629400" y="1302120"/>
            <a:ext cx="2998800" cy="3498480"/>
          </a:xfrm>
          <a:prstGeom prst="rect">
            <a:avLst/>
          </a:prstGeom>
          <a:ln w="0">
            <a:noFill/>
          </a:ln>
        </p:spPr>
      </p:pic>
      <p:sp>
        <p:nvSpPr>
          <p:cNvPr id="26" name=""/>
          <p:cNvSpPr/>
          <p:nvPr/>
        </p:nvSpPr>
        <p:spPr>
          <a:xfrm>
            <a:off x="457200" y="228600"/>
            <a:ext cx="914400" cy="943920"/>
          </a:xfrm>
          <a:prstGeom prst="rect">
            <a:avLst/>
          </a:prstGeom>
          <a:solidFill>
            <a:srgbClr val="b64a4a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Rules of Conway’s Game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525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938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If a dead (false) cell is surrounded by exactly three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live cells, it is born (becomes true)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If a live (true) cell is surrounded by more than three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live cells or less than two live cells, it dies (becomes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false)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Under any other condition the cell remains constant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29" name=""/>
          <p:cNvSpPr/>
          <p:nvPr/>
        </p:nvSpPr>
        <p:spPr>
          <a:xfrm>
            <a:off x="504000" y="226080"/>
            <a:ext cx="914400" cy="914400"/>
          </a:xfrm>
          <a:prstGeom prst="rect">
            <a:avLst/>
          </a:prstGeom>
          <a:solidFill>
            <a:srgbClr val="b64a4a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" name="" descr=""/>
          <p:cNvPicPr/>
          <p:nvPr/>
        </p:nvPicPr>
        <p:blipFill>
          <a:blip r:embed="rId1"/>
          <a:srcRect l="0" t="-233" r="0" b="0"/>
          <a:stretch/>
        </p:blipFill>
        <p:spPr>
          <a:xfrm>
            <a:off x="5257800" y="1371600"/>
            <a:ext cx="2298600" cy="2184480"/>
          </a:xfrm>
          <a:prstGeom prst="rect">
            <a:avLst/>
          </a:prstGeom>
          <a:ln w="0">
            <a:noFill/>
          </a:ln>
        </p:spPr>
      </p:pic>
      <p:pic>
        <p:nvPicPr>
          <p:cNvPr id="31" name="" descr=""/>
          <p:cNvPicPr/>
          <p:nvPr/>
        </p:nvPicPr>
        <p:blipFill>
          <a:blip r:embed="rId2"/>
          <a:stretch/>
        </p:blipFill>
        <p:spPr>
          <a:xfrm>
            <a:off x="7599240" y="1371600"/>
            <a:ext cx="2230560" cy="2176560"/>
          </a:xfrm>
          <a:prstGeom prst="rect">
            <a:avLst/>
          </a:prstGeom>
          <a:ln w="0">
            <a:noFill/>
          </a:ln>
        </p:spPr>
      </p:pic>
      <p:sp>
        <p:nvSpPr>
          <p:cNvPr id="32" name=""/>
          <p:cNvSpPr txBox="1"/>
          <p:nvPr/>
        </p:nvSpPr>
        <p:spPr>
          <a:xfrm>
            <a:off x="5257800" y="3594960"/>
            <a:ext cx="4572000" cy="97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Baskervville"/>
              </a:rPr>
              <a:t>Under normal rules of Conway’s Game, the game would switch between these two states forever.</a:t>
            </a:r>
            <a:endParaRPr b="0" lang="en-US" sz="1800" spc="-1" strike="noStrike">
              <a:solidFill>
                <a:srgbClr val="ffffff"/>
              </a:solidFill>
              <a:latin typeface="Baskervvill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 txBox="1"/>
          <p:nvPr/>
        </p:nvSpPr>
        <p:spPr>
          <a:xfrm>
            <a:off x="529560" y="11433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Design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34" name=""/>
          <p:cNvSpPr/>
          <p:nvPr/>
        </p:nvSpPr>
        <p:spPr>
          <a:xfrm>
            <a:off x="457200" y="2057760"/>
            <a:ext cx="9144000" cy="914400"/>
          </a:xfrm>
          <a:prstGeom prst="rect">
            <a:avLst/>
          </a:prstGeom>
          <a:solidFill>
            <a:srgbClr val="31549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10000">
        <p14:flip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Settings Storage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982400" cy="370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43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Used JSON file because python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library and easy indexing of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individual elements.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Stored following data: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Height and width of grid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Radius for live and dead cells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when looking at adjacencies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Overpopulation and under-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population thresholds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Number of cells required for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reproduction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04000" y="199080"/>
            <a:ext cx="914400" cy="943920"/>
          </a:xfrm>
          <a:prstGeom prst="rect">
            <a:avLst/>
          </a:prstGeom>
          <a:solidFill>
            <a:srgbClr val="31549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5715000" y="1172520"/>
            <a:ext cx="2057400" cy="2057400"/>
          </a:xfrm>
          <a:prstGeom prst="rect">
            <a:avLst/>
          </a:prstGeom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2"/>
          <a:stretch/>
        </p:blipFill>
        <p:spPr>
          <a:xfrm>
            <a:off x="7841880" y="1179000"/>
            <a:ext cx="2167920" cy="2057400"/>
          </a:xfrm>
          <a:prstGeom prst="rect">
            <a:avLst/>
          </a:prstGeom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3"/>
          <a:stretch/>
        </p:blipFill>
        <p:spPr>
          <a:xfrm>
            <a:off x="5715000" y="3272400"/>
            <a:ext cx="2057400" cy="2008440"/>
          </a:xfrm>
          <a:prstGeom prst="rect">
            <a:avLst/>
          </a:prstGeom>
          <a:ln w="0">
            <a:noFill/>
          </a:ln>
        </p:spPr>
      </p:pic>
      <p:sp>
        <p:nvSpPr>
          <p:cNvPr id="41" name=""/>
          <p:cNvSpPr txBox="1"/>
          <p:nvPr/>
        </p:nvSpPr>
        <p:spPr>
          <a:xfrm>
            <a:off x="7929000" y="3528000"/>
            <a:ext cx="1828800" cy="12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600" spc="-1" strike="noStrike">
                <a:solidFill>
                  <a:srgbClr val="ffffff"/>
                </a:solidFill>
                <a:latin typeface="Baskervville"/>
              </a:rPr>
              <a:t>Three different rule settings with the same initial conditions</a:t>
            </a:r>
            <a:endParaRPr b="0" lang="en-US" sz="1600" spc="-1" strike="noStrike">
              <a:solidFill>
                <a:srgbClr val="ffffff"/>
              </a:solidFill>
              <a:latin typeface="Baskervville"/>
            </a:endParaRPr>
          </a:p>
        </p:txBody>
      </p:sp>
    </p:spTree>
  </p:cSld>
  <mc:AlternateContent>
    <mc:Choice Requires="p14">
      <p:transition spd="slow" p14:dur="10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Adjacency Function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068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The first thing I did was make a function that was given the coordinates of the original cell and a search radius around it that will be considered adjacent.  The function returns an integer of the number of live cells within the search radius (not including the given cell).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44" name=""/>
          <p:cNvSpPr/>
          <p:nvPr/>
        </p:nvSpPr>
        <p:spPr>
          <a:xfrm>
            <a:off x="505800" y="258120"/>
            <a:ext cx="914400" cy="914400"/>
          </a:xfrm>
          <a:prstGeom prst="rect">
            <a:avLst/>
          </a:prstGeom>
          <a:solidFill>
            <a:srgbClr val="31549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7543800" y="1553040"/>
            <a:ext cx="1251720" cy="1190160"/>
          </a:xfrm>
          <a:prstGeom prst="rect">
            <a:avLst/>
          </a:prstGeom>
          <a:ln w="0">
            <a:noFill/>
          </a:ln>
        </p:spPr>
      </p:pic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5589360" y="1371600"/>
            <a:ext cx="1497240" cy="1388160"/>
          </a:xfrm>
          <a:prstGeom prst="rect">
            <a:avLst/>
          </a:prstGeom>
          <a:ln w="0">
            <a:noFill/>
          </a:ln>
        </p:spPr>
      </p:pic>
      <p:pic>
        <p:nvPicPr>
          <p:cNvPr id="47" name="" descr=""/>
          <p:cNvPicPr/>
          <p:nvPr/>
        </p:nvPicPr>
        <p:blipFill>
          <a:blip r:embed="rId3"/>
          <a:stretch/>
        </p:blipFill>
        <p:spPr>
          <a:xfrm>
            <a:off x="5568840" y="3376440"/>
            <a:ext cx="1535760" cy="1424160"/>
          </a:xfrm>
          <a:prstGeom prst="rect">
            <a:avLst/>
          </a:prstGeom>
          <a:ln w="0">
            <a:noFill/>
          </a:ln>
        </p:spPr>
      </p:pic>
      <p:pic>
        <p:nvPicPr>
          <p:cNvPr id="48" name="" descr=""/>
          <p:cNvPicPr/>
          <p:nvPr/>
        </p:nvPicPr>
        <p:blipFill>
          <a:blip r:embed="rId4"/>
          <a:stretch/>
        </p:blipFill>
        <p:spPr>
          <a:xfrm>
            <a:off x="7432920" y="3451680"/>
            <a:ext cx="1482480" cy="1429200"/>
          </a:xfrm>
          <a:prstGeom prst="rect">
            <a:avLst/>
          </a:prstGeom>
          <a:ln w="0">
            <a:noFill/>
          </a:ln>
        </p:spPr>
      </p:pic>
      <p:sp>
        <p:nvSpPr>
          <p:cNvPr id="49" name=""/>
          <p:cNvSpPr txBox="1"/>
          <p:nvPr/>
        </p:nvSpPr>
        <p:spPr>
          <a:xfrm>
            <a:off x="5715000" y="2779200"/>
            <a:ext cx="3200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Baskervville"/>
              </a:rPr>
              <a:t>Conway Search Radius = 1</a:t>
            </a:r>
            <a:endParaRPr b="0" lang="en-US" sz="18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715000" y="4880880"/>
            <a:ext cx="32004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1800" spc="-1" strike="noStrike">
                <a:solidFill>
                  <a:srgbClr val="ffffff"/>
                </a:solidFill>
                <a:latin typeface="Baskervville"/>
              </a:rPr>
              <a:t>Conway Search Radius = 2</a:t>
            </a:r>
            <a:endParaRPr b="0" lang="en-US" sz="1800" spc="-1" strike="noStrike">
              <a:solidFill>
                <a:srgbClr val="ffffff"/>
              </a:solidFill>
              <a:latin typeface="Baskervville"/>
            </a:endParaRPr>
          </a:p>
        </p:txBody>
      </p:sp>
    </p:spTree>
  </p:cSld>
  <mc:AlternateContent>
    <mc:Choice Requires="p14">
      <p:transition spd="slow" p14:dur="10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29560" y="2286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Iteration Function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972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The iteration function simply runs the adjacency function on every cell, and changes the game board based on the outputs of the adjacency function.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53" name=""/>
          <p:cNvSpPr/>
          <p:nvPr/>
        </p:nvSpPr>
        <p:spPr>
          <a:xfrm>
            <a:off x="505800" y="228600"/>
            <a:ext cx="914400" cy="914400"/>
          </a:xfrm>
          <a:prstGeom prst="rect">
            <a:avLst/>
          </a:prstGeom>
          <a:solidFill>
            <a:srgbClr val="31549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396000" y="2417400"/>
            <a:ext cx="9325800" cy="260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0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29560" y="24084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Pausing and Updating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5211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I used a global pause variable and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added a button to the matplotlib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figure to have pause functionality.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Then I made a two functions: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pause_unpause (simply inverts the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global pause variable) and update.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Update is tied to a timer that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executes in fixed intervals. If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Conway’s Game is paused then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update does nothing. If Conway’s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Game is not paused then it iterates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and refreshes the matplotlib figure.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57" name=""/>
          <p:cNvSpPr/>
          <p:nvPr/>
        </p:nvSpPr>
        <p:spPr>
          <a:xfrm>
            <a:off x="559800" y="240840"/>
            <a:ext cx="919800" cy="902160"/>
          </a:xfrm>
          <a:prstGeom prst="rect">
            <a:avLst/>
          </a:prstGeom>
          <a:solidFill>
            <a:srgbClr val="31549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" descr=""/>
          <p:cNvPicPr/>
          <p:nvPr/>
        </p:nvPicPr>
        <p:blipFill>
          <a:blip r:embed="rId1"/>
          <a:stretch/>
        </p:blipFill>
        <p:spPr>
          <a:xfrm>
            <a:off x="5848560" y="1371600"/>
            <a:ext cx="3981240" cy="286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10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Input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2057400"/>
            <a:ext cx="4068000" cy="32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I made mouse input using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mpl_connect. The grid_click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function returns without doing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anything if a click was when the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game was not paused or was not in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the top left figure. If the game is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paused and the click is on the top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left figure, then it will invert the cell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clicked.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61" name=""/>
          <p:cNvSpPr/>
          <p:nvPr/>
        </p:nvSpPr>
        <p:spPr>
          <a:xfrm>
            <a:off x="529200" y="226080"/>
            <a:ext cx="914400" cy="914400"/>
          </a:xfrm>
          <a:prstGeom prst="rect">
            <a:avLst/>
          </a:prstGeom>
          <a:solidFill>
            <a:srgbClr val="31549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304600" y="2080800"/>
            <a:ext cx="4068000" cy="27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The formatting of the CSV input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is the coordinates of cells that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should be alive. The program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takes the CSV and makes all cells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listed alive. There’s a boolean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variable whether or not to use the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CSV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57200" y="1371600"/>
            <a:ext cx="41148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Baskervville"/>
              </a:rPr>
              <a:t>Mouse Input</a:t>
            </a:r>
            <a:endParaRPr b="1" lang="en-US" sz="28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5257800" y="1371600"/>
            <a:ext cx="43434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US" sz="2800" spc="-1" strike="noStrike">
                <a:solidFill>
                  <a:srgbClr val="ffffff"/>
                </a:solidFill>
                <a:latin typeface="Baskervville"/>
              </a:rPr>
              <a:t>CSV Input</a:t>
            </a:r>
            <a:endParaRPr b="1" lang="en-US" sz="2800" spc="-1" strike="noStrike">
              <a:solidFill>
                <a:srgbClr val="ffffff"/>
              </a:solidFill>
              <a:latin typeface="Baskervville"/>
            </a:endParaRPr>
          </a:p>
        </p:txBody>
      </p:sp>
    </p:spTree>
  </p:cSld>
  <mc:AlternateContent>
    <mc:Choice Requires="p14">
      <p:transition spd="slow" p14:dur="15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529560" y="11433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Optimizations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66" name=""/>
          <p:cNvSpPr/>
          <p:nvPr/>
        </p:nvSpPr>
        <p:spPr>
          <a:xfrm>
            <a:off x="457200" y="2057760"/>
            <a:ext cx="9144000" cy="914400"/>
          </a:xfrm>
          <a:prstGeom prst="rect">
            <a:avLst/>
          </a:prstGeom>
          <a:solidFill>
            <a:srgbClr val="3e7d4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10000">
        <p:newsflash/>
      </p:transition>
    </mc:Choice>
    <mc:Fallback>
      <p:transition spd="slow">
        <p:newsflash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Stored &amp; Differential Array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3610800" cy="324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Searching through every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individual cell is a waste of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time.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We should store the previous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iteration and create a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differential array that tracks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what has changed between the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previous and current iteration.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That’s what I did.</a:t>
            </a:r>
            <a:br>
              <a:rPr sz="3200"/>
            </a:br>
            <a:r>
              <a:rPr b="0" lang="en-US" sz="3200" spc="-1" strike="noStrike">
                <a:solidFill>
                  <a:srgbClr val="ffffff"/>
                </a:solidFill>
                <a:latin typeface="Baskervville"/>
              </a:rPr>
              <a:t> </a:t>
            </a:r>
            <a:endParaRPr b="0" lang="en-US" sz="32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69" name=""/>
          <p:cNvSpPr/>
          <p:nvPr/>
        </p:nvSpPr>
        <p:spPr>
          <a:xfrm>
            <a:off x="468000" y="228600"/>
            <a:ext cx="903600" cy="943920"/>
          </a:xfrm>
          <a:prstGeom prst="rect">
            <a:avLst/>
          </a:prstGeom>
          <a:solidFill>
            <a:srgbClr val="3e7d4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4343400" y="1407600"/>
            <a:ext cx="1723320" cy="3657600"/>
          </a:xfrm>
          <a:prstGeom prst="rect">
            <a:avLst/>
          </a:prstGeom>
          <a:ln w="0">
            <a:noFill/>
          </a:ln>
        </p:spPr>
      </p:pic>
      <p:pic>
        <p:nvPicPr>
          <p:cNvPr id="71" name="" descr=""/>
          <p:cNvPicPr/>
          <p:nvPr/>
        </p:nvPicPr>
        <p:blipFill>
          <a:blip r:embed="rId2"/>
          <a:stretch/>
        </p:blipFill>
        <p:spPr>
          <a:xfrm>
            <a:off x="6066720" y="1407600"/>
            <a:ext cx="3534480" cy="362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9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r"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Search Array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38394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441" lnSpcReduction="1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From the differential array we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add a radius around each true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element of the differential array. 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When we are going through the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iteration function we only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check adjacencies from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elements that are true in the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search array reducing the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amount of iterations by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(2(radius)+1)^2 for each element </a:t>
            </a:r>
            <a:r>
              <a:rPr b="0" lang="en-US" sz="2000" spc="-1" strike="noStrike">
                <a:solidFill>
                  <a:srgbClr val="ffffff"/>
                </a:solidFill>
                <a:latin typeface="Baskervville"/>
              </a:rPr>
              <a:t>not in the search array</a:t>
            </a:r>
            <a:endParaRPr b="0" lang="en-US" sz="20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74" name=""/>
          <p:cNvSpPr/>
          <p:nvPr/>
        </p:nvSpPr>
        <p:spPr>
          <a:xfrm>
            <a:off x="504000" y="226080"/>
            <a:ext cx="914400" cy="914400"/>
          </a:xfrm>
          <a:prstGeom prst="rect">
            <a:avLst/>
          </a:prstGeom>
          <a:solidFill>
            <a:srgbClr val="3e7d4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4572000" y="1329480"/>
            <a:ext cx="5151240" cy="369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9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 txBox="1"/>
          <p:nvPr/>
        </p:nvSpPr>
        <p:spPr>
          <a:xfrm>
            <a:off x="529560" y="11433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4400" spc="-1" strike="noStrike">
                <a:solidFill>
                  <a:srgbClr val="ffffff"/>
                </a:solidFill>
                <a:latin typeface="Baskervville"/>
              </a:rPr>
              <a:t>Thank you</a:t>
            </a:r>
            <a:endParaRPr b="1" lang="en-US" sz="4400" spc="-1" strike="noStrike">
              <a:solidFill>
                <a:srgbClr val="ffffff"/>
              </a:solidFill>
              <a:latin typeface="Baskervville"/>
            </a:endParaRPr>
          </a:p>
        </p:txBody>
      </p:sp>
      <p:sp>
        <p:nvSpPr>
          <p:cNvPr id="77" name=""/>
          <p:cNvSpPr/>
          <p:nvPr/>
        </p:nvSpPr>
        <p:spPr>
          <a:xfrm>
            <a:off x="914400" y="2089440"/>
            <a:ext cx="8229600" cy="228600"/>
          </a:xfrm>
          <a:prstGeom prst="rect">
            <a:avLst/>
          </a:prstGeom>
          <a:solidFill>
            <a:srgbClr val="3e7d4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14400" y="2377440"/>
            <a:ext cx="8229600" cy="228600"/>
          </a:xfrm>
          <a:prstGeom prst="rect">
            <a:avLst/>
          </a:prstGeom>
          <a:solidFill>
            <a:srgbClr val="31549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14400" y="2665440"/>
            <a:ext cx="8229600" cy="228600"/>
          </a:xfrm>
          <a:prstGeom prst="rect">
            <a:avLst/>
          </a:prstGeom>
          <a:solidFill>
            <a:srgbClr val="b64a4a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2026-10-11T14:14:10Z</dcterms:created>
  <dc:creator/>
  <dc:description/>
  <dc:language>en-US</dc:language>
  <cp:lastModifiedBy/>
  <cp:lastPrinted>2026-10-11T19:24:51Z</cp:lastPrinted>
  <dcterms:modified xsi:type="dcterms:W3CDTF">2026-10-11T19:26:13Z</dcterms:modified>
  <cp:revision>2</cp:revision>
  <dc:subject/>
  <dc:title/>
</cp:coreProperties>
</file>